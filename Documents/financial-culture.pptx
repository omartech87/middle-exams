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1097280"/>
            <a:ext cx="10362895" cy="46634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789920" y="1463040"/>
            <a:ext cx="76200" cy="3931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3474720"/>
          </a:xfrm>
          <a:prstGeom prst="rect">
            <a:avLst/>
          </a:prstGeom>
          <a:noFill/>
        </p:spPr>
        <p:txBody>
          <a:bodyPr wrap="square">
            <a:spAutoFit/>
          </a:bodyPr>
          <a:lstStyle/>
          <a:p>
            <a:pPr algn="r">
              <a:spcAft>
                <a:spcPts val="1400"/>
              </a:spcAft>
              <a:defRPr sz="1400" b="1">
                <a:solidFill>
                  <a:srgbClr val="D97706"/>
                </a:solidFill>
                <a:latin typeface="Noto Sans Arabic"/>
              </a:defRPr>
            </a:pPr>
            <a:r>
              <a:t>وحدة الفيزياء العامة — أساسيات القياس</a:t>
            </a:r>
          </a:p>
          <a:p>
            <a:pPr algn="r">
              <a:spcAft>
                <a:spcPts val="1600"/>
              </a:spcAft>
              <a:defRPr sz="3600" b="1">
                <a:solidFill>
                  <a:srgbClr val="FFFFFF"/>
                </a:solidFill>
                <a:latin typeface="Noto Kufi Arabic"/>
              </a:defRPr>
            </a:pPr>
            <a:r>
              <a:t>أساسيات القياس الفيزيائي والوحدات المعنوية</a:t>
            </a:r>
          </a:p>
          <a:p>
            <a:pPr algn="r">
              <a:defRPr sz="1800">
                <a:solidFill>
                  <a:srgbClr val="94A3B8"/>
                </a:solidFill>
                <a:latin typeface="Noto Sans Arabic"/>
              </a:defRPr>
            </a:pPr>
            <a:r>
              <a:t>دليل شامل لمفهوم القياس، أدوات القياس (المسطرة والميكرومتر)، والأرقام المعنوية التقديرية والمؤكدة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lgn="r">
              <a:defRPr sz="1200" b="1">
                <a:solidFill>
                  <a:srgbClr val="0D9488"/>
                </a:solidFill>
                <a:latin typeface="Noto Sans Arabic"/>
              </a:defRPr>
            </a:pPr>
            <a:r>
              <a:t>أساسيات القياس الفيزيائي</a:t>
            </a:r>
          </a:p>
        </p:txBody>
      </p:sp>
      <p:sp>
        <p:nvSpPr>
          <p:cNvPr id="3" name="TextBox 2"/>
          <p:cNvSpPr txBox="1"/>
          <p:nvPr/>
        </p:nvSpPr>
        <p:spPr>
          <a:xfrm>
            <a:off x="731520" y="731520"/>
            <a:ext cx="10728655" cy="822960"/>
          </a:xfrm>
          <a:prstGeom prst="rect">
            <a:avLst/>
          </a:prstGeom>
          <a:noFill/>
        </p:spPr>
        <p:txBody>
          <a:bodyPr wrap="square">
            <a:spAutoFit/>
          </a:bodyPr>
          <a:lstStyle/>
          <a:p>
            <a:pPr algn="r">
              <a:defRPr sz="2400" b="1">
                <a:solidFill>
                  <a:srgbClr val="1E293B"/>
                </a:solidFill>
                <a:latin typeface="Noto Kufi Arabic"/>
              </a:defRPr>
            </a:pPr>
            <a:r>
              <a:t>تعتمد عملية القياس على ثلاثة عناصر رئيسية لتحديد الكميات الفيزيائية</a:t>
            </a:r>
          </a:p>
        </p:txBody>
      </p:sp>
      <p:sp>
        <p:nvSpPr>
          <p:cNvPr id="4" name="Rectangle 3"/>
          <p:cNvSpPr/>
          <p:nvPr/>
        </p:nvSpPr>
        <p:spPr>
          <a:xfrm>
            <a:off x="731520" y="1600200"/>
            <a:ext cx="10728655"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0"/>
            <a:ext cx="10728655" cy="822960"/>
          </a:xfrm>
          <a:prstGeom prst="roundRect">
            <a:avLst/>
          </a:prstGeom>
          <a:solidFill>
            <a:srgbClr val="EBF5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defRPr sz="1500" b="1">
                <a:solidFill>
                  <a:srgbClr val="1E293B"/>
                </a:solidFill>
                <a:latin typeface="Noto Sans Arabic"/>
              </a:defRPr>
            </a:pPr>
            <a:r>
              <a:t>تعريف القياس: وسيلة للتعبير بالأرقام عن كمية فيزيائية عن طريق مقارنتها بكمية معلومة من النوع نفسه تسمى (وحدة القياس).</a:t>
            </a:r>
          </a:p>
        </p:txBody>
      </p:sp>
      <p:sp>
        <p:nvSpPr>
          <p:cNvPr id="6" name="Rounded Rectangle 5"/>
          <p:cNvSpPr/>
          <p:nvPr/>
        </p:nvSpPr>
        <p:spPr>
          <a:xfrm>
            <a:off x="731520" y="2834640"/>
            <a:ext cx="33832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600"/>
              </a:spcAft>
              <a:defRPr sz="2800" b="1">
                <a:solidFill>
                  <a:srgbClr val="2563EB"/>
                </a:solidFill>
                <a:latin typeface="Noto Kufi Arabic"/>
              </a:defRPr>
            </a:pPr>
            <a:r>
              <a:t>01</a:t>
            </a:r>
          </a:p>
          <a:p>
            <a:pPr algn="r">
              <a:spcAft>
                <a:spcPts val="1200"/>
              </a:spcAft>
              <a:defRPr sz="1800" b="1">
                <a:solidFill>
                  <a:srgbClr val="1E293B"/>
                </a:solidFill>
                <a:latin typeface="Noto Kufi Arabic"/>
              </a:defRPr>
            </a:pPr>
            <a:r>
              <a:t>الكمية الفيزيائية</a:t>
            </a:r>
          </a:p>
          <a:p>
            <a:pPr algn="r">
              <a:defRPr sz="1400">
                <a:solidFill>
                  <a:srgbClr val="64748B"/>
                </a:solidFill>
                <a:latin typeface="Noto Sans Arabic"/>
              </a:defRPr>
            </a:pPr>
            <a:r>
              <a:t>المقدار الفيزيائي المراد قياسه وتحديده بالرقم والوحدة (مثل الطول أو الكتلة أو الزمن).</a:t>
            </a:r>
          </a:p>
        </p:txBody>
      </p:sp>
      <p:sp>
        <p:nvSpPr>
          <p:cNvPr id="7" name="Rectangle 6"/>
          <p:cNvSpPr/>
          <p:nvPr/>
        </p:nvSpPr>
        <p:spPr>
          <a:xfrm>
            <a:off x="731520" y="2834640"/>
            <a:ext cx="338328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0" y="2834640"/>
            <a:ext cx="33832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600"/>
              </a:spcAft>
              <a:defRPr sz="2800" b="1">
                <a:solidFill>
                  <a:srgbClr val="0D9488"/>
                </a:solidFill>
                <a:latin typeface="Noto Kufi Arabic"/>
              </a:defRPr>
            </a:pPr>
            <a:r>
              <a:t>02</a:t>
            </a:r>
          </a:p>
          <a:p>
            <a:pPr algn="r">
              <a:spcAft>
                <a:spcPts val="1200"/>
              </a:spcAft>
              <a:defRPr sz="1800" b="1">
                <a:solidFill>
                  <a:srgbClr val="1E293B"/>
                </a:solidFill>
                <a:latin typeface="Noto Kufi Arabic"/>
              </a:defRPr>
            </a:pPr>
            <a:r>
              <a:t>أداة القياس</a:t>
            </a:r>
          </a:p>
          <a:p>
            <a:pPr algn="r">
              <a:defRPr sz="1400">
                <a:solidFill>
                  <a:srgbClr val="64748B"/>
                </a:solidFill>
                <a:latin typeface="Noto Sans Arabic"/>
              </a:defRPr>
            </a:pPr>
            <a:r>
              <a:t>الجهاز المباشر المستعمل للقياس (مثل المسطرة المدرجة أو الميكرومتر الدقيق).</a:t>
            </a:r>
          </a:p>
        </p:txBody>
      </p:sp>
      <p:sp>
        <p:nvSpPr>
          <p:cNvPr id="9" name="Rectangle 8"/>
          <p:cNvSpPr/>
          <p:nvPr/>
        </p:nvSpPr>
        <p:spPr>
          <a:xfrm>
            <a:off x="4389120" y="2834640"/>
            <a:ext cx="338328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0" y="2834640"/>
            <a:ext cx="3383280" cy="3474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600"/>
              </a:spcAft>
              <a:defRPr sz="2800" b="1">
                <a:solidFill>
                  <a:srgbClr val="D97706"/>
                </a:solidFill>
                <a:latin typeface="Noto Kufi Arabic"/>
              </a:defRPr>
            </a:pPr>
            <a:r>
              <a:t>03</a:t>
            </a:r>
          </a:p>
          <a:p>
            <a:pPr algn="r">
              <a:spcAft>
                <a:spcPts val="1200"/>
              </a:spcAft>
              <a:defRPr sz="1800" b="1">
                <a:solidFill>
                  <a:srgbClr val="1E293B"/>
                </a:solidFill>
                <a:latin typeface="Noto Kufi Arabic"/>
              </a:defRPr>
            </a:pPr>
            <a:r>
              <a:t>وحدة القياس</a:t>
            </a:r>
          </a:p>
          <a:p>
            <a:pPr algn="r">
              <a:defRPr sz="1400">
                <a:solidFill>
                  <a:srgbClr val="64748B"/>
                </a:solidFill>
                <a:latin typeface="Noto Sans Arabic"/>
              </a:defRPr>
            </a:pPr>
            <a:r>
              <a:t>الكمية المعيارية المعلومة من النوع نفسه المقارن بها (مثل المليمتر أو المتر).</a:t>
            </a:r>
          </a:p>
        </p:txBody>
      </p:sp>
      <p:sp>
        <p:nvSpPr>
          <p:cNvPr id="11" name="Rectangle 10"/>
          <p:cNvSpPr/>
          <p:nvPr/>
        </p:nvSpPr>
        <p:spPr>
          <a:xfrm>
            <a:off x="8046720" y="2834640"/>
            <a:ext cx="338328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lgn="r">
              <a:defRPr sz="1200" b="1">
                <a:solidFill>
                  <a:srgbClr val="0D9488"/>
                </a:solidFill>
                <a:latin typeface="Noto Sans Arabic"/>
              </a:defRPr>
            </a:pPr>
            <a:r>
              <a:t>أساسيات القياس الفيزيائي</a:t>
            </a:r>
          </a:p>
        </p:txBody>
      </p:sp>
      <p:sp>
        <p:nvSpPr>
          <p:cNvPr id="3" name="TextBox 2"/>
          <p:cNvSpPr txBox="1"/>
          <p:nvPr/>
        </p:nvSpPr>
        <p:spPr>
          <a:xfrm>
            <a:off x="731520" y="731520"/>
            <a:ext cx="10728655" cy="822960"/>
          </a:xfrm>
          <a:prstGeom prst="rect">
            <a:avLst/>
          </a:prstGeom>
          <a:noFill/>
        </p:spPr>
        <p:txBody>
          <a:bodyPr wrap="square">
            <a:spAutoFit/>
          </a:bodyPr>
          <a:lstStyle/>
          <a:p>
            <a:pPr algn="r">
              <a:defRPr sz="2400" b="1">
                <a:solidFill>
                  <a:srgbClr val="1E293B"/>
                </a:solidFill>
                <a:latin typeface="Noto Kufi Arabic"/>
              </a:defRPr>
            </a:pPr>
            <a:r>
              <a:t>تتفاوت أدوات القياس في الدقة من 1 مم إلى 0.01 مم حسب طبيعة الأداة</a:t>
            </a:r>
          </a:p>
        </p:txBody>
      </p:sp>
      <p:sp>
        <p:nvSpPr>
          <p:cNvPr id="4" name="Rectangle 3"/>
          <p:cNvSpPr/>
          <p:nvPr/>
        </p:nvSpPr>
        <p:spPr>
          <a:xfrm>
            <a:off x="731520" y="1600200"/>
            <a:ext cx="10728655"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0"/>
            <a:ext cx="512064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1400"/>
              </a:spcAft>
              <a:defRPr sz="2200" b="1">
                <a:solidFill>
                  <a:srgbClr val="1E293B"/>
                </a:solidFill>
                <a:latin typeface="Noto Kufi Arabic"/>
              </a:defRPr>
            </a:pPr>
            <a:r>
              <a:t>المسطرة (Ruler)</a:t>
            </a:r>
          </a:p>
          <a:p>
            <a:pPr algn="r">
              <a:spcAft>
                <a:spcPts val="1000"/>
              </a:spcAft>
              <a:defRPr sz="1300">
                <a:solidFill>
                  <a:srgbClr val="1E293B"/>
                </a:solidFill>
                <a:latin typeface="Noto Sans Arabic"/>
              </a:defRPr>
            </a:pPr>
            <a:r>
              <a:t>التصنيف والاستخدام: من أبسط الأدوات القياسية المستخدمة في الحياة اليومية والمعامل.</a:t>
            </a:r>
          </a:p>
          <a:p>
            <a:pPr algn="r">
              <a:spcAft>
                <a:spcPts val="1000"/>
              </a:spcAft>
              <a:defRPr sz="1300">
                <a:solidFill>
                  <a:srgbClr val="1E293B"/>
                </a:solidFill>
                <a:latin typeface="Noto Sans Arabic"/>
              </a:defRPr>
            </a:pPr>
            <a:r>
              <a:t>التدريج الأساسي: مدرجة بالكامل بالميليمتر (mm).</a:t>
            </a:r>
          </a:p>
          <a:p>
            <a:pPr algn="r">
              <a:spcAft>
                <a:spcPts val="1000"/>
              </a:spcAft>
              <a:defRPr sz="1300">
                <a:solidFill>
                  <a:srgbClr val="1E293B"/>
                </a:solidFill>
                <a:latin typeface="Noto Sans Arabic"/>
              </a:defRPr>
            </a:pPr>
            <a:r>
              <a:t>أصغر تدريج (الدقة): أصغر تدريج قياسي هو 1 ميليمتر (1 مم).</a:t>
            </a:r>
          </a:p>
          <a:p>
            <a:pPr algn="r">
              <a:spcAft>
                <a:spcPts val="1000"/>
              </a:spcAft>
              <a:defRPr sz="1300">
                <a:solidFill>
                  <a:srgbClr val="1E293B"/>
                </a:solidFill>
                <a:latin typeface="Noto Sans Arabic"/>
              </a:defRPr>
            </a:pPr>
            <a:r>
              <a:t>مستوى الدقة: مناسبة للقياسات الاعتيادية التي لا تتطلب أجزاءً صغيرة من المليمتر.</a:t>
            </a:r>
          </a:p>
        </p:txBody>
      </p:sp>
      <p:sp>
        <p:nvSpPr>
          <p:cNvPr id="6" name="Rectangle 5"/>
          <p:cNvSpPr/>
          <p:nvPr/>
        </p:nvSpPr>
        <p:spPr>
          <a:xfrm>
            <a:off x="731520" y="1828800"/>
            <a:ext cx="512064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39535" y="1828800"/>
            <a:ext cx="5120640" cy="44805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1400"/>
              </a:spcAft>
              <a:defRPr sz="2200" b="1">
                <a:solidFill>
                  <a:srgbClr val="1E293B"/>
                </a:solidFill>
                <a:latin typeface="Noto Kufi Arabic"/>
              </a:defRPr>
            </a:pPr>
            <a:r>
              <a:t>الميكرومتر (Micrometer)</a:t>
            </a:r>
          </a:p>
          <a:p>
            <a:pPr algn="r">
              <a:spcAft>
                <a:spcPts val="1000"/>
              </a:spcAft>
              <a:defRPr sz="1300">
                <a:solidFill>
                  <a:srgbClr val="1E293B"/>
                </a:solidFill>
                <a:latin typeface="Noto Sans Arabic"/>
              </a:defRPr>
            </a:pPr>
            <a:r>
              <a:t>التصنيف والاستخدام: أداة قياس دقيقة جداً تستخدم لقياس الأبعاد الدقيقة والأدوات الصغيرة.</a:t>
            </a:r>
          </a:p>
          <a:p>
            <a:pPr algn="r">
              <a:spcAft>
                <a:spcPts val="1000"/>
              </a:spcAft>
              <a:defRPr sz="1300">
                <a:solidFill>
                  <a:srgbClr val="1E293B"/>
                </a:solidFill>
                <a:latin typeface="Noto Sans Arabic"/>
              </a:defRPr>
            </a:pPr>
            <a:r>
              <a:t>دقة القياس الفائقة: تصل دقة قياسه إلى 0.01 ميليمتر (0.01 مم).</a:t>
            </a:r>
          </a:p>
          <a:p>
            <a:pPr algn="r">
              <a:spcAft>
                <a:spcPts val="1000"/>
              </a:spcAft>
              <a:defRPr sz="1300">
                <a:solidFill>
                  <a:srgbClr val="1E293B"/>
                </a:solidFill>
                <a:latin typeface="Noto Sans Arabic"/>
              </a:defRPr>
            </a:pPr>
            <a:r>
              <a:t>نسبة التميز: أدق بـ 100 مرة مقارنة بالمسطرة العادية (0.01 مم مقابل 1 مم).</a:t>
            </a:r>
          </a:p>
          <a:p>
            <a:pPr algn="r">
              <a:spcAft>
                <a:spcPts val="1000"/>
              </a:spcAft>
              <a:defRPr sz="1300">
                <a:solidFill>
                  <a:srgbClr val="1E293B"/>
                </a:solidFill>
                <a:latin typeface="Noto Sans Arabic"/>
              </a:defRPr>
            </a:pPr>
            <a:r>
              <a:t>الأهمية العملية: تسمح بقياس سمك الأوراق والأسلاك بدقة عالية تقضي على نسبة الخطأ.</a:t>
            </a:r>
          </a:p>
        </p:txBody>
      </p:sp>
      <p:sp>
        <p:nvSpPr>
          <p:cNvPr id="8" name="Rectangle 7"/>
          <p:cNvSpPr/>
          <p:nvPr/>
        </p:nvSpPr>
        <p:spPr>
          <a:xfrm>
            <a:off x="6339535" y="1828800"/>
            <a:ext cx="5120640" cy="109728"/>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lgn="r">
              <a:defRPr sz="1200" b="1">
                <a:solidFill>
                  <a:srgbClr val="0D9488"/>
                </a:solidFill>
                <a:latin typeface="Noto Sans Arabic"/>
              </a:defRPr>
            </a:pPr>
            <a:r>
              <a:t>أساسيات القياس الفيزيائي</a:t>
            </a:r>
          </a:p>
        </p:txBody>
      </p:sp>
      <p:sp>
        <p:nvSpPr>
          <p:cNvPr id="3" name="TextBox 2"/>
          <p:cNvSpPr txBox="1"/>
          <p:nvPr/>
        </p:nvSpPr>
        <p:spPr>
          <a:xfrm>
            <a:off x="731520" y="731520"/>
            <a:ext cx="10728655" cy="822960"/>
          </a:xfrm>
          <a:prstGeom prst="rect">
            <a:avLst/>
          </a:prstGeom>
          <a:noFill/>
        </p:spPr>
        <p:txBody>
          <a:bodyPr wrap="square">
            <a:spAutoFit/>
          </a:bodyPr>
          <a:lstStyle/>
          <a:p>
            <a:pPr algn="r">
              <a:defRPr sz="2400" b="1">
                <a:solidFill>
                  <a:srgbClr val="1E293B"/>
                </a:solidFill>
                <a:latin typeface="Noto Kufi Arabic"/>
              </a:defRPr>
            </a:pPr>
            <a:r>
              <a:t>تجمع الأرقام المعنوية بين الأرقام المؤكدة والرقم التقديري لبيان دقة القياس</a:t>
            </a:r>
          </a:p>
        </p:txBody>
      </p:sp>
      <p:sp>
        <p:nvSpPr>
          <p:cNvPr id="4" name="Rectangle 3"/>
          <p:cNvSpPr/>
          <p:nvPr/>
        </p:nvSpPr>
        <p:spPr>
          <a:xfrm>
            <a:off x="731520" y="1600200"/>
            <a:ext cx="10728655"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19695" y="1920240"/>
            <a:ext cx="3840480" cy="2194560"/>
          </a:xfrm>
          <a:prstGeom prst="roundRect">
            <a:avLst/>
          </a:prstGeom>
          <a:solidFill>
            <a:srgbClr val="FFFF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800"/>
              </a:spcAft>
              <a:defRPr sz="2000" b="1">
                <a:solidFill>
                  <a:srgbClr val="2563EB"/>
                </a:solidFill>
                <a:latin typeface="Noto Kufi Arabic"/>
              </a:defRPr>
            </a:pPr>
            <a:r>
              <a:t>الأرقام المؤكدة</a:t>
            </a:r>
          </a:p>
          <a:p>
            <a:pPr algn="r">
              <a:defRPr sz="1400">
                <a:solidFill>
                  <a:srgbClr val="1E293B"/>
                </a:solidFill>
                <a:latin typeface="Noto Sans Arabic"/>
              </a:defRPr>
            </a:pPr>
            <a:r>
              <a:t>الأرقام الناتجة عن عملية القياس بثقة ويقين تُقرأ مباشرة من تدريج الأداة.</a:t>
            </a:r>
          </a:p>
        </p:txBody>
      </p:sp>
      <p:sp>
        <p:nvSpPr>
          <p:cNvPr id="6" name="TextBox 5"/>
          <p:cNvSpPr txBox="1"/>
          <p:nvPr/>
        </p:nvSpPr>
        <p:spPr>
          <a:xfrm>
            <a:off x="6888175" y="2560320"/>
            <a:ext cx="731520" cy="914400"/>
          </a:xfrm>
          <a:prstGeom prst="rect">
            <a:avLst/>
          </a:prstGeom>
          <a:noFill/>
        </p:spPr>
        <p:txBody>
          <a:bodyPr wrap="none">
            <a:spAutoFit/>
          </a:bodyPr>
          <a:lstStyle/>
          <a:p>
            <a:pPr algn="ctr">
              <a:defRPr sz="3600" b="1">
                <a:solidFill>
                  <a:srgbClr val="D97706"/>
                </a:solidFill>
                <a:latin typeface="Noto Kufi Arabic"/>
              </a:defRPr>
            </a:pPr>
            <a:r>
              <a:t>+</a:t>
            </a:r>
          </a:p>
        </p:txBody>
      </p:sp>
      <p:sp>
        <p:nvSpPr>
          <p:cNvPr id="7" name="Rounded Rectangle 6"/>
          <p:cNvSpPr/>
          <p:nvPr/>
        </p:nvSpPr>
        <p:spPr>
          <a:xfrm>
            <a:off x="3047695" y="1920240"/>
            <a:ext cx="3840480" cy="2194560"/>
          </a:xfrm>
          <a:prstGeom prst="roundRect">
            <a:avLst/>
          </a:prstGeom>
          <a:solidFill>
            <a:srgbClr val="FFFFFF"/>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800"/>
              </a:spcAft>
              <a:defRPr sz="2000" b="1">
                <a:solidFill>
                  <a:srgbClr val="D97706"/>
                </a:solidFill>
                <a:latin typeface="Noto Kufi Arabic"/>
              </a:defRPr>
            </a:pPr>
            <a:r>
              <a:t>الرقم التقديري</a:t>
            </a:r>
          </a:p>
          <a:p>
            <a:pPr algn="r">
              <a:defRPr sz="1400">
                <a:solidFill>
                  <a:srgbClr val="1E293B"/>
                </a:solidFill>
                <a:latin typeface="Noto Sans Arabic"/>
              </a:defRPr>
            </a:pPr>
            <a:r>
              <a:t>الرقم الأخير الخاضع للتقدير والتقريب البصري من قبل الشخص القائم بالقياس.</a:t>
            </a:r>
          </a:p>
        </p:txBody>
      </p:sp>
      <p:sp>
        <p:nvSpPr>
          <p:cNvPr id="8" name="TextBox 7"/>
          <p:cNvSpPr txBox="1"/>
          <p:nvPr/>
        </p:nvSpPr>
        <p:spPr>
          <a:xfrm>
            <a:off x="2316175" y="2560320"/>
            <a:ext cx="731520" cy="914400"/>
          </a:xfrm>
          <a:prstGeom prst="rect">
            <a:avLst/>
          </a:prstGeom>
          <a:noFill/>
        </p:spPr>
        <p:txBody>
          <a:bodyPr wrap="none">
            <a:spAutoFit/>
          </a:bodyPr>
          <a:lstStyle/>
          <a:p>
            <a:pPr algn="ctr">
              <a:defRPr sz="3600" b="1">
                <a:solidFill>
                  <a:srgbClr val="0D9488"/>
                </a:solidFill>
                <a:latin typeface="Noto Kufi Arabic"/>
              </a:defRPr>
            </a:pPr>
            <a:r>
              <a:t>=</a:t>
            </a:r>
          </a:p>
        </p:txBody>
      </p:sp>
      <p:sp>
        <p:nvSpPr>
          <p:cNvPr id="9" name="Rounded Rectangle 8"/>
          <p:cNvSpPr/>
          <p:nvPr/>
        </p:nvSpPr>
        <p:spPr>
          <a:xfrm>
            <a:off x="731520" y="1920240"/>
            <a:ext cx="1584655" cy="2194560"/>
          </a:xfrm>
          <a:prstGeom prst="roundRect">
            <a:avLst/>
          </a:prstGeom>
          <a:solidFill>
            <a:srgbClr val="0D9488"/>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FFFFF"/>
                </a:solidFill>
                <a:latin typeface="Noto Kufi Arabic"/>
              </a:defRPr>
            </a:pPr>
            <a:r>
              <a:t>الأرقام المعنوية</a:t>
            </a:r>
          </a:p>
          <a:p>
            <a:pPr algn="ctr">
              <a:defRPr sz="1300">
                <a:solidFill>
                  <a:srgbClr val="E6FFFA"/>
                </a:solidFill>
                <a:latin typeface="Noto Sans Arabic"/>
              </a:defRPr>
            </a:pPr>
            <a:r>
              <a:t>النتيجة النهائية الموثوقة</a:t>
            </a:r>
          </a:p>
        </p:txBody>
      </p:sp>
      <p:sp>
        <p:nvSpPr>
          <p:cNvPr id="10" name="Rounded Rectangle 9"/>
          <p:cNvSpPr/>
          <p:nvPr/>
        </p:nvSpPr>
        <p:spPr>
          <a:xfrm>
            <a:off x="731520" y="4389120"/>
            <a:ext cx="10728655" cy="1737360"/>
          </a:xfrm>
          <a:prstGeom prst="roundRect">
            <a:avLst/>
          </a:prstGeom>
          <a:solidFill>
            <a:srgbClr val="FFFBEB"/>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600"/>
              </a:spcAft>
              <a:defRPr sz="1600" b="1">
                <a:solidFill>
                  <a:srgbClr val="D97706"/>
                </a:solidFill>
                <a:latin typeface="Noto Kufi Arabic"/>
              </a:defRPr>
            </a:pPr>
            <a:r>
              <a:t>القاعدة العلمية للأرقام المعنوية (Significant Figures):</a:t>
            </a:r>
          </a:p>
          <a:p>
            <a:pPr algn="r">
              <a:defRPr sz="1400">
                <a:solidFill>
                  <a:srgbClr val="1E293B"/>
                </a:solidFill>
                <a:latin typeface="Noto Sans Arabic"/>
              </a:defRPr>
            </a:pPr>
            <a:r>
              <a:t>يُطلق مسمى (الأرقام المعنوية) على المجموع الكلي المكون من الأرقام المؤكدة الناتجة عن أداة القياس بالإضافة إلى رقم تقديري واحد آخر فقط. تعكس هذه الأرقام مدى دقة أداة القياس المستعملة وتمنع ادعاء دقة زائدة غير مبررة في النتائج الحسابية.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a:spAutoFit/>
          </a:bodyPr>
          <a:lstStyle/>
          <a:p>
            <a:pPr algn="r">
              <a:defRPr sz="1200" b="1">
                <a:solidFill>
                  <a:srgbClr val="0D9488"/>
                </a:solidFill>
                <a:latin typeface="Noto Sans Arabic"/>
              </a:defRPr>
            </a:pPr>
            <a:r>
              <a:t>أساسيات القياس الفيزيائي</a:t>
            </a:r>
          </a:p>
        </p:txBody>
      </p:sp>
      <p:sp>
        <p:nvSpPr>
          <p:cNvPr id="3" name="TextBox 2"/>
          <p:cNvSpPr txBox="1"/>
          <p:nvPr/>
        </p:nvSpPr>
        <p:spPr>
          <a:xfrm>
            <a:off x="731520" y="731520"/>
            <a:ext cx="10728655" cy="822960"/>
          </a:xfrm>
          <a:prstGeom prst="rect">
            <a:avLst/>
          </a:prstGeom>
          <a:noFill/>
        </p:spPr>
        <p:txBody>
          <a:bodyPr wrap="square">
            <a:spAutoFit/>
          </a:bodyPr>
          <a:lstStyle/>
          <a:p>
            <a:pPr algn="r">
              <a:defRPr sz="2400" b="1">
                <a:solidFill>
                  <a:srgbClr val="1E293B"/>
                </a:solidFill>
                <a:latin typeface="Noto Kufi Arabic"/>
              </a:defRPr>
            </a:pPr>
            <a:r>
              <a:t>ثلاثة مبادئ حاسمة تضمن دقة القياس الفيزيائي والتمثيل المعنوي</a:t>
            </a:r>
          </a:p>
        </p:txBody>
      </p:sp>
      <p:sp>
        <p:nvSpPr>
          <p:cNvPr id="4" name="Rectangle 3"/>
          <p:cNvSpPr/>
          <p:nvPr/>
        </p:nvSpPr>
        <p:spPr>
          <a:xfrm>
            <a:off x="731520" y="1600200"/>
            <a:ext cx="10728655" cy="25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828800"/>
            <a:ext cx="10728655"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400"/>
              </a:spcAft>
              <a:defRPr sz="1700" b="1">
                <a:solidFill>
                  <a:srgbClr val="1E293B"/>
                </a:solidFill>
                <a:latin typeface="Noto Kufi Arabic"/>
              </a:defRPr>
            </a:pPr>
            <a:r>
              <a:t>1. شمولية عناصر القياس الثلاثة</a:t>
            </a:r>
          </a:p>
          <a:p>
            <a:pPr algn="r">
              <a:defRPr sz="1400">
                <a:solidFill>
                  <a:srgbClr val="64748B"/>
                </a:solidFill>
                <a:latin typeface="Noto Sans Arabic"/>
              </a:defRPr>
            </a:pPr>
            <a:r>
              <a:t>لا تكتمل عملية القياس إلا بتحديد الكمية المراد قياسها، واختيار الأداة المناسبة، وربط القيمة بوحدة قياس معيارية معلومة.</a:t>
            </a:r>
          </a:p>
        </p:txBody>
      </p:sp>
      <p:sp>
        <p:nvSpPr>
          <p:cNvPr id="6" name="Rectangle 5"/>
          <p:cNvSpPr/>
          <p:nvPr/>
        </p:nvSpPr>
        <p:spPr>
          <a:xfrm>
            <a:off x="731520" y="1828800"/>
            <a:ext cx="10728655" cy="914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31520" y="3337560"/>
            <a:ext cx="10728655"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400"/>
              </a:spcAft>
              <a:defRPr sz="1700" b="1">
                <a:solidFill>
                  <a:srgbClr val="1E293B"/>
                </a:solidFill>
                <a:latin typeface="Noto Kufi Arabic"/>
              </a:defRPr>
            </a:pPr>
            <a:r>
              <a:t>2. التناسب الدقيق بين الأداة والغرض</a:t>
            </a:r>
          </a:p>
          <a:p>
            <a:pPr algn="r">
              <a:defRPr sz="1400">
                <a:solidFill>
                  <a:srgbClr val="64748B"/>
                </a:solidFill>
                <a:latin typeface="Noto Sans Arabic"/>
              </a:defRPr>
            </a:pPr>
            <a:r>
              <a:t>يتم اختيار الأداة بناءً على دقة المطلوب؛ فالأبعاد العادية تُقاس بالمسطرة (1 مم)، بينما الأبعاد الدقيقة تتطلب الميكرومتر (0.01 مم).</a:t>
            </a:r>
          </a:p>
        </p:txBody>
      </p:sp>
      <p:sp>
        <p:nvSpPr>
          <p:cNvPr id="8" name="Rectangle 7"/>
          <p:cNvSpPr/>
          <p:nvPr/>
        </p:nvSpPr>
        <p:spPr>
          <a:xfrm>
            <a:off x="731520" y="3337560"/>
            <a:ext cx="10728655" cy="914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4846320"/>
            <a:ext cx="10728655" cy="132588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r">
              <a:spcAft>
                <a:spcPts val="400"/>
              </a:spcAft>
              <a:defRPr sz="1700" b="1">
                <a:solidFill>
                  <a:srgbClr val="1E293B"/>
                </a:solidFill>
                <a:latin typeface="Noto Kufi Arabic"/>
              </a:defRPr>
            </a:pPr>
            <a:r>
              <a:t>3. الانضباط بالأرقام المعنوية في النتائج</a:t>
            </a:r>
          </a:p>
          <a:p>
            <a:pPr algn="r">
              <a:defRPr sz="1400">
                <a:solidFill>
                  <a:srgbClr val="64748B"/>
                </a:solidFill>
                <a:latin typeface="Noto Sans Arabic"/>
              </a:defRPr>
            </a:pPr>
            <a:r>
              <a:t>تعبر النتائج العلمية بوضوح عن حدود الأداة عبر دمج الأرقام المؤكدة مع رقم تقديري واحد فقط لضمان الأمانة في نقل القراءات.</a:t>
            </a:r>
          </a:p>
        </p:txBody>
      </p:sp>
      <p:sp>
        <p:nvSpPr>
          <p:cNvPr id="10" name="Rectangle 9"/>
          <p:cNvSpPr/>
          <p:nvPr/>
        </p:nvSpPr>
        <p:spPr>
          <a:xfrm>
            <a:off x="731520" y="4846320"/>
            <a:ext cx="10728655" cy="914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