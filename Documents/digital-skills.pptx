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مقدمة شمولية للعرض التقديمي الخاص بكتاب تكنولوجيا العصر الرقمي وأمن المعلومات، مستنداً إلى التحديدات المطلوبة.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تغطية مفاهيم الأجهزة الذكية والحوسبة السحابية ونماذجها الثلاثة مع الأمثلة المحددة للحفظ.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شرح تقنيات الواقع الافتراضي والمعزز والذكاء الاصطناعي وإنترنت الأشياء مع الأمثلة المحددة للحفظ.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توضيح الآثار الإيجابية والمخاطر السلبية على الفرد والمجتمع مع التركيز على شرح مفهوم البطالة التكنولوجية.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شرح مفهوم التعلم الإلكتروني وتصنيفات المنصات LMS وMOOCs وأدوات المؤتمرات المرئية مع الأمثلة المحددة.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ملخص لأدوات التفاعل والإنشاء والتعاون والتقييم الرقمي مع الأمثلة التوضيحية المحددة للحفظ.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مفهوم الجريمة الإلكترونية ومقارنتها بالجريمة التقليدية واستعراض أنواعها السبعة الشائعة.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استعراض الإطار القانوني للجرائم الإلكترونية والخطوات السبع العملية للحماية والوقاية منها.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تعريف التنمر الإلكتروني، الأدوات المستخدمة في ممارسته، أشكاله الأربعة المحددة، وأسبابه الشخصية والبيئية.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استعراض الإجراءات الخمسة المحددة للحماية والوقاية من التنمر الإلكتروني وكيفية التصرف عند التعرض له.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F8FAFC"/>
                </a:solidFill>
                <a:latin typeface="Arial"/>
              </a:defRPr>
            </a:pPr>
            <a:r>
              <a:t>تكنولوجيا العصر الرقمي وأمن المعلومات</a:t>
            </a:r>
          </a:p>
          <a:p>
            <a:pPr algn="r">
              <a:spcBef>
                <a:spcPts val="1500"/>
              </a:spcBef>
              <a:defRPr sz="2000">
                <a:solidFill>
                  <a:srgbClr val="D97706"/>
                </a:solidFill>
                <a:latin typeface="Arial"/>
              </a:defRPr>
            </a:pPr>
            <a:r>
              <a:t>ملخص العرض التقديمي الشامل والمحدد لمحتوى المقرر الدراسي</a:t>
            </a:r>
          </a:p>
          <a:p>
            <a:pPr algn="r">
              <a:spcBef>
                <a:spcPts val="2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يتناول الأجهزة الذكية، الحوسبة السحابية، التقنيات الناشئة، التعلم الإلكتروني، الجريمة الإلكترونية، والتنمر الرقمي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الأول: وسائل التكنولوجيا الحديثة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الأجهزة الذكية والحوسبة السحابية تشكل البنية التحتية للتحول الرقمي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F766E"/>
                </a:solidFill>
                <a:latin typeface="Arial"/>
              </a:defRPr>
            </a:pPr>
            <a:r>
              <a:t>1. الأجهزة الذكية (Smart Devices)</a:t>
            </a:r>
          </a:p>
          <a:p>
            <a:pPr algn="r">
              <a:spcBef>
                <a:spcPts val="8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• التعريف: أجهزة إلكترونية مجهزة بتقنيات حديثة تمكنها من الاتصال بالإنترنت وتبادل البيانات مع البيئة أو المستخدمين.</a:t>
            </a:r>
          </a:p>
          <a:p>
            <a:pPr algn="r">
              <a:spcBef>
                <a:spcPts val="400"/>
              </a:spcBef>
              <a:defRPr sz="1400" b="1">
                <a:solidFill>
                  <a:srgbClr val="D97706"/>
                </a:solidFill>
                <a:latin typeface="Arial"/>
              </a:defRPr>
            </a:pPr>
            <a:r>
              <a:t>• الأمثلة المحددة: اللابتوب والموبايل.</a:t>
            </a:r>
          </a:p>
          <a:p>
            <a:pPr algn="r">
              <a:spcBef>
                <a:spcPts val="2000"/>
              </a:spcBef>
              <a:defRPr sz="1800" b="1">
                <a:solidFill>
                  <a:srgbClr val="0F766E"/>
                </a:solidFill>
                <a:latin typeface="Arial"/>
              </a:defRPr>
            </a:pPr>
            <a:r>
              <a:t>2. الحوسبة السحابية (Cloud Computing)</a:t>
            </a:r>
          </a:p>
          <a:p>
            <a:pPr algn="r">
              <a:spcBef>
                <a:spcPts val="8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• المفهوم: توفير خدمات حاسوبية عبر الإنترنت للوصول السهل منخفض التكلفة للتطبيقات والموارد بدون بنية تحتية داخلية.</a:t>
            </a:r>
          </a:p>
          <a:p>
            <a:pPr algn="r">
              <a:spcBef>
                <a:spcPts val="600"/>
              </a:spcBef>
              <a:defRPr sz="1400" b="1">
                <a:solidFill>
                  <a:srgbClr val="1E293B"/>
                </a:solidFill>
                <a:latin typeface="Arial"/>
              </a:defRPr>
            </a:pPr>
            <a:r>
              <a:t>• متطلبات الحصول عليها: جهاز حاسوب + نظام تشغيل + اتصال بالإنترنت.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F766E"/>
                </a:solidFill>
                <a:latin typeface="Arial"/>
              </a:defRPr>
            </a:pPr>
            <a:r>
              <a:t>نماذج خدمات الحوسبة السحابية الثلاثة</a:t>
            </a:r>
          </a:p>
          <a:p>
            <a:pPr algn="r">
              <a:spcBef>
                <a:spcPts val="12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t>• البرمجيات كخدمة (SaaS)</a:t>
            </a:r>
          </a:p>
          <a:p>
            <a:pPr algn="r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Software as a Service — توفير البرامج والتطبيقات مباشرة عبر السحابة.</a:t>
            </a:r>
          </a:p>
          <a:p>
            <a:pPr algn="r">
              <a:spcBef>
                <a:spcPts val="12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t>• البنية التحتية كخدمة (IaaS)</a:t>
            </a:r>
          </a:p>
          <a:p>
            <a:pPr algn="r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Infrastructure as a Service — توفير الخوادم وموارد التخزين والشبكات.</a:t>
            </a:r>
          </a:p>
          <a:p>
            <a:pPr algn="r">
              <a:spcBef>
                <a:spcPts val="1200"/>
              </a:spcBef>
              <a:defRPr sz="1500" b="1">
                <a:solidFill>
                  <a:srgbClr val="1E293B"/>
                </a:solidFill>
                <a:latin typeface="Arial"/>
              </a:defRPr>
            </a:pPr>
            <a:r>
              <a:t>• المنصة كخدمة (PaaS)</a:t>
            </a:r>
          </a:p>
          <a:p>
            <a:pPr algn="r">
              <a:spcBef>
                <a:spcPts val="2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Platform as a Service — توفير بيئات تطوير وإدارة التطبيقات.</a:t>
            </a:r>
          </a:p>
          <a:p>
            <a:pPr algn="r">
              <a:spcBef>
                <a:spcPts val="1600"/>
              </a:spcBef>
              <a:defRPr sz="1400" b="1">
                <a:solidFill>
                  <a:srgbClr val="D97706"/>
                </a:solidFill>
                <a:latin typeface="Arial"/>
              </a:defRPr>
            </a:pPr>
            <a:r>
              <a:t>أمثلة محددة: Google Cloud, OneDrive, Microsoft Azure.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الأول: التقنيات الناشئة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التقنيات الناشئة تقدم تجارب تفاعلية وأنظمة ذكية تنظم وتتفاعل ذاتياً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6895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14055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Arial"/>
              </a:defRPr>
            </a:pPr>
            <a:r>
              <a:t>الواقع الافتراضي والمعزز</a:t>
            </a:r>
            <a:br/>
            <a:r>
              <a:t>(VR / AR)</a:t>
            </a:r>
          </a:p>
          <a:p>
            <a:pPr algn="r">
              <a:spcBef>
                <a:spcPts val="1600"/>
              </a:spcBef>
              <a:defRPr sz="1400">
                <a:solidFill>
                  <a:srgbClr val="1E293B"/>
                </a:solidFill>
                <a:latin typeface="Arial"/>
              </a:defRPr>
            </a:pPr>
            <a:r>
              <a:t>• المفهوم الأساسي:</a:t>
            </a:r>
            <a:br/>
            <a:r>
              <a:t>تقنيات تقدم تجارب تفاعلية ثلاثية الأبعاد (3D) للمستخدمين.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091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Arial"/>
              </a:defRPr>
            </a:pPr>
            <a:r>
              <a:t>الذكاء الاصطناعي</a:t>
            </a:r>
            <a:br/>
            <a:r>
              <a:t>(Artificial Intelligence - AI)</a:t>
            </a:r>
          </a:p>
          <a:p>
            <a:pPr algn="r">
              <a:spcBef>
                <a:spcPts val="10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المفهوم: نظام حاسوبي قادر على محاكاة الذكاء البشري (التفكير، التعلّم، التعميم، حل المشكلات، اتخاذ القرارات).</a:t>
            </a:r>
          </a:p>
          <a:p>
            <a:pPr algn="r">
              <a:spcBef>
                <a:spcPts val="800"/>
              </a:spcBef>
              <a:defRPr sz="1300" b="1">
                <a:solidFill>
                  <a:srgbClr val="D97706"/>
                </a:solidFill>
                <a:latin typeface="Arial"/>
              </a:defRPr>
            </a:pPr>
            <a:r>
              <a:t>• الأمثلة المحددة:</a:t>
            </a:r>
            <a:br/>
            <a:r>
              <a:t> - المساعد الرقمي Siri</a:t>
            </a:r>
            <a:br/>
            <a:r>
              <a:t> - نظام الملاحة GPS</a:t>
            </a:r>
            <a:br/>
            <a:r>
              <a:t> - التوجيه في المركبات ذاتية القيادة</a:t>
            </a:r>
            <a:br/>
            <a:r>
              <a:t> - الذكاء التوليدي (ChatGPT)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Arial"/>
              </a:defRPr>
            </a:pPr>
            <a:r>
              <a:t>إنترنت الأشياء</a:t>
            </a:r>
            <a:br/>
            <a:r>
              <a:t>(Internet of Things - IoT)</a:t>
            </a:r>
          </a:p>
          <a:p>
            <a:pPr algn="r">
              <a:spcBef>
                <a:spcPts val="10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المفهوم: شبكة مفتوحة وشاملة من الأجهزة الذكية المرتبطة بالإنترنت لمشاركة البيانات والتفاعل والتنظيم الذاتي بدون تدخل بشري.</a:t>
            </a:r>
          </a:p>
          <a:p>
            <a:pPr algn="r">
              <a:spcBef>
                <a:spcPts val="800"/>
              </a:spcBef>
              <a:defRPr sz="1300" b="1">
                <a:solidFill>
                  <a:srgbClr val="1E293B"/>
                </a:solidFill>
                <a:latin typeface="Arial"/>
              </a:defRPr>
            </a:pPr>
            <a:r>
              <a:t>• المكونات والأمثلة:</a:t>
            </a:r>
            <a:br/>
            <a:r>
              <a:t>مجهزة بـ أجهزة استشعار (Sensors) وبرمجيات.</a:t>
            </a:r>
            <a:br/>
            <a:r>
              <a:t>أمثلة: الأجهزة المنزلية، الساعات، السيارات، والكاميرات.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الأول: آثار التكنولوجيا الحديثة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التكنولوجيا ترتقي بالكفاءة والاقتصاد لكنها تفرض مخاطر الإدمان والبطالة التكنولوجية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F766E"/>
                </a:solidFill>
                <a:latin typeface="Arial"/>
              </a:defRPr>
            </a:pPr>
            <a:r>
              <a:t>الآثار الإيجابية للتكنولوجيا</a:t>
            </a:r>
          </a:p>
          <a:p>
            <a:pPr algn="r">
              <a:spcBef>
                <a:spcPts val="800"/>
              </a:spcBef>
              <a:defRPr sz="1400" b="1">
                <a:solidFill>
                  <a:srgbClr val="D97706"/>
                </a:solidFill>
                <a:latin typeface="Arial"/>
              </a:defRPr>
            </a:pPr>
            <a:r>
              <a:t>أولاً: على الفرد (المحدد للحفظ):</a:t>
            </a:r>
          </a:p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زيادة الكفاءة والإنتاجية</a:t>
            </a:r>
          </a:p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التواصل والتفاعل الاجتماعي</a:t>
            </a:r>
          </a:p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التعليم والتعلم والراحة والرفاهية</a:t>
            </a:r>
          </a:p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العمل عن بعد</a:t>
            </a:r>
          </a:p>
          <a:p>
            <a:pPr algn="r">
              <a:spcBef>
                <a:spcPts val="1000"/>
              </a:spcBef>
              <a:defRPr sz="1400" b="1">
                <a:solidFill>
                  <a:srgbClr val="D97706"/>
                </a:solidFill>
                <a:latin typeface="Arial"/>
              </a:defRPr>
            </a:pPr>
            <a:r>
              <a:t>ثانياً: على المجتمع (المحدد للحفظ):</a:t>
            </a:r>
          </a:p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دعم الابتكار وتعزيز النمو الاقتصادي</a:t>
            </a:r>
          </a:p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التواصل والتعاون العالمي</a:t>
            </a:r>
          </a:p>
          <a:p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زيادة الوعي والمشاركة الاجتماعية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DC2626"/>
                </a:solidFill>
                <a:latin typeface="Arial"/>
              </a:defRPr>
            </a:pPr>
            <a:r>
              <a:t>المخاطر والآثار السلبية</a:t>
            </a:r>
          </a:p>
          <a:p>
            <a:pPr algn="r"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مخاطر على الفرد: الإدمان والتشتت، التأثير في الصحة النفسية والبدنية، انتهاك الخصوصية، والتنمر الإلكتروني.</a:t>
            </a:r>
          </a:p>
          <a:p>
            <a:pPr algn="r"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مخاطر على المجتمع: التأثير السلبي في العلاقات الاجتماعية، والتأثير السلبي في البيئة.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400" b="1">
                <a:solidFill>
                  <a:srgbClr val="DC2626"/>
                </a:solidFill>
                <a:latin typeface="Arial"/>
              </a:defRPr>
            </a:pPr>
            <a:r>
              <a:t>مفهوم هام للحفظ: البطالة التكنولوجية</a:t>
            </a:r>
          </a:p>
          <a:p>
            <a:pPr algn="r">
              <a:spcBef>
                <a:spcPts val="4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قد يؤدي انتشار الأتمتة واستخدام الروبوتات إلى فقدان كثير من الوظائف التقليدية؛ مما يزيد من معدلات البطالة ويؤثر سلبًا في الاقتصاد.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الثاني: التعلم الإلكتروني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التعلم الإلكتروني يدمج التكنولوجيا الرقمية لتطوير التعليم عبر المنصات والمؤتمرات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766E"/>
                </a:solidFill>
                <a:latin typeface="Arial"/>
              </a:defRPr>
            </a:pPr>
            <a:r>
              <a:t>مفهوم التعلم الإلكتروني (E-Learning) وأدواته</a:t>
            </a:r>
          </a:p>
          <a:p>
            <a:pPr algn="r">
              <a:spcBef>
                <a:spcPts val="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المفهوم: نهج لعملية التعلم والتعليم يعتمد على استخدام التكنولوجيا الرقمية وشبكة الإنترنت في تحسين عملية التعلم وتجويدها (مباشرة أو عبر مناهج ذاتية التوجيه).</a:t>
            </a:r>
            <a:br/>
            <a:r>
              <a:t>• الأدوات: المنصات والموارد والحلول البرمجية المصممة لتسهيل عملية التعلم وإدارتها عبر الإنترنت.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242255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383280"/>
            <a:ext cx="487649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766E"/>
                </a:solidFill>
                <a:latin typeface="Arial"/>
              </a:defRPr>
            </a:pPr>
            <a:r>
              <a:t>1. منصات التعلم الإلكتروني (Learning Platforms)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أ) أنظمة إدارة التعلم (LMS):</a:t>
            </a:r>
            <a:br/>
            <a:r>
              <a:t>تتيح إدارة عملية التعلم وإعداد الدروس والمساقات ومتابعتها.</a:t>
            </a:r>
            <a:br/>
            <a:r>
              <a:t>مثال محدد: JoLearn</a:t>
            </a:r>
          </a:p>
          <a:p>
            <a:pPr algn="r"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ب) المنصات مفتوحة المصدر (MOOCs):</a:t>
            </a:r>
            <a:br/>
            <a:r>
              <a:t>تضم مساقات متوافرة للجميع عبر الإنترنت منخفضة التكلفة.</a:t>
            </a:r>
            <a:br/>
            <a:r>
              <a:t>مثال محدد: إدراك (EDRAAK)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242255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487649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766E"/>
                </a:solidFill>
                <a:latin typeface="Arial"/>
              </a:defRPr>
            </a:pPr>
            <a:r>
              <a:t>2. أدوات المؤتمرات المرئية (Video Conferencing)</a:t>
            </a:r>
          </a:p>
          <a:p>
            <a:pPr algn="r"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الأهمية والدور:</a:t>
            </a:r>
            <a:br/>
            <a:r>
              <a:t>تسهل الجلسات التفاعلية الحية وتتيح للطلبة التفاعل المباشر وتلقي التغذية الراجعة المناسبة أثناء التعلّم، وتسمح بتشكيل صفوف افتراضية.</a:t>
            </a:r>
          </a:p>
          <a:p>
            <a:pPr algn="r">
              <a:spcBef>
                <a:spcPts val="1000"/>
              </a:spcBef>
              <a:defRPr sz="1400" b="1">
                <a:solidFill>
                  <a:srgbClr val="D97706"/>
                </a:solidFill>
                <a:latin typeface="Arial"/>
              </a:defRPr>
            </a:pPr>
            <a:r>
              <a:t>• الأمثلة المحددة للحفظ:</a:t>
            </a:r>
            <a:br/>
            <a:r>
              <a:t> - Zoom</a:t>
            </a:r>
            <a:br/>
            <a:r>
              <a:t> - Google Meet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الثاني: تصنيف أدوات التعلم الإلكتروني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منظومة أدوات التعلم الإلكتروني تتنوع بين المحاكاة، الألعاب، الإنشاء، والتقييم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973775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فئة الأداة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الوظيفة والأهمية التعليمية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المثال المحدد للحفظ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F766E"/>
                          </a:solidFill>
                          <a:latin typeface="Arial"/>
                        </a:defRPr>
                      </a:pPr>
                      <a:r>
                        <a:t>أدوات التفاعل والمحاكاة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تنفذ أنشطة المحاكاة والمختبرات الافتراضية لظواهر يصعب تطبيقها واقعياً (PhET)، الألعاب التعليمية لزيادة الدافعية (Kahoot)، والألواح التفاعلية (Miro).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PhET / Kahoot / Miro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F766E"/>
                          </a:solidFill>
                          <a:latin typeface="Arial"/>
                        </a:defRPr>
                      </a:pPr>
                      <a:r>
                        <a:t>أدوات الإنشاء (Authoring)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تساعد على إعداد المحتوى الرقمي وإدارته وتسهل تصميم محتوى تعليمي جذاب ومفيد.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Canva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F766E"/>
                          </a:solidFill>
                          <a:latin typeface="Arial"/>
                        </a:defRPr>
                      </a:pPr>
                      <a:r>
                        <a:t>أدوات الاتصال والتعاون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تسهل التواصل والعمل الجماعي التشاركي بين الطلبة والمعلمين.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Microsoft Teams / Google Workspace /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F766E"/>
                          </a:solidFill>
                          <a:latin typeface="Arial"/>
                        </a:defRPr>
                      </a:pPr>
                      <a:r>
                        <a:t>أدوات التقييم الإلكتروني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تطبيقات مساعدة للمعلمين لعمل اختبارات وتقييمات وإدارتها بفاعلية عبر الإنترنت.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Wordwall / Kahoot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الثالث: الجريمة الإلكترونية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الجريمة الإلكترونية فعل غير قانوني عبر شبكة رقمية وتتعدد أشكالها السبعة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F766E"/>
                </a:solidFill>
                <a:latin typeface="Arial"/>
              </a:defRPr>
            </a:pPr>
            <a:r>
              <a:t>تعريف الجريمة الإلكترونية (Cybercrime) وأركانها</a:t>
            </a:r>
          </a:p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أي فعل يرتكب باستخدام وسيلة أو نظام أو شبكة إلكترونية بصورة غير قانونية تخالف القانون.</a:t>
            </a:r>
            <a:br/>
            <a:r>
              <a:t>• أركانها: تتشابه مع الجريمة التقليدية في عناصرها (الجاني، الضحية، وفعل الجريمة)، وتختلف في البيئة والوسائل المستخدمة.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54203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359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  <a:latin typeface="Arial"/>
              </a:defRPr>
            </a:pPr>
            <a:r>
              <a:t>1. الاختراق (Hacking)</a:t>
            </a:r>
          </a:p>
          <a:p>
            <a:pPr algn="r"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وصول غير مصرح به للأنظمة/الشبكات لسرقة البيانات أو إلغائها أو تعطيل التشغيل.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743200"/>
            <a:ext cx="254203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834640"/>
            <a:ext cx="2359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  <a:latin typeface="Arial"/>
              </a:defRPr>
            </a:pPr>
            <a:r>
              <a:t>2. البرمجيات الخبيثة (Malware)</a:t>
            </a:r>
          </a:p>
          <a:p>
            <a:pPr algn="r"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إطلاق برامج ضارة كالفيروسات وبرامج التجسس لإتلاف الأجهزة وسرقة المعلومات.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743200"/>
            <a:ext cx="254203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2834640"/>
            <a:ext cx="2359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  <a:latin typeface="Arial"/>
              </a:defRPr>
            </a:pPr>
            <a:r>
              <a:t>3. التلاعب بالبيانات (Data Manipulation)</a:t>
            </a:r>
          </a:p>
          <a:p>
            <a:pPr algn="r"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تغيير المعلومات أو حذفها بصورة غير قانونية.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743200"/>
            <a:ext cx="254203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2834640"/>
            <a:ext cx="2359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  <a:latin typeface="Arial"/>
              </a:defRPr>
            </a:pPr>
            <a:r>
              <a:t>4. التصيد والاحتيال (Phishing)</a:t>
            </a:r>
          </a:p>
          <a:p>
            <a:pPr algn="r"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خداع الأفراد للاستيلاء على معلومات مهمة عبر رسائل البريد المضللة.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  <a:latin typeface="Arial"/>
              </a:defRPr>
            </a:pPr>
            <a:r>
              <a:t>5. سرقة الهوية (Identity Theft)</a:t>
            </a:r>
          </a:p>
          <a:p>
            <a:pPr algn="r"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استخدام معلومات شخص آخر بدون إذن للحصول على المال غالبًا.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46177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47091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  <a:latin typeface="Arial"/>
              </a:defRPr>
            </a:pPr>
            <a:r>
              <a:t>6. هجمات الفدية (Ransomware)</a:t>
            </a:r>
          </a:p>
          <a:p>
            <a:pPr algn="r"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برامج ضارة تشفر بيانات المستخدم وتطالبه بفدية مالية لفك التشفير.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461772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47091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  <a:latin typeface="Arial"/>
              </a:defRPr>
            </a:pPr>
            <a:r>
              <a:t>7. الابتزاز الإلكتروني (Cyberstalking)</a:t>
            </a:r>
          </a:p>
          <a:p>
            <a:pPr algn="r">
              <a:spcBef>
                <a:spcPts val="300"/>
              </a:spcBef>
              <a:defRPr sz="1000">
                <a:solidFill>
                  <a:srgbClr val="1E293B"/>
                </a:solidFill>
                <a:latin typeface="Arial"/>
              </a:defRPr>
            </a:pPr>
            <a:r>
              <a:t>التهديد بالكشف عن معلومات مهمة أو إلحاق الضرر للإجبار على دفع فدية.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الثالث: التشريعات والوقاية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الحماية التشريعية والوقاية التقنية تشكلان الخط الأول لمواجهة الجرائم الإلكترونية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F766E"/>
                </a:solidFill>
                <a:latin typeface="Arial"/>
              </a:defRPr>
            </a:pPr>
            <a:r>
              <a:t>قانون الجرائم الإلكترونية</a:t>
            </a:r>
          </a:p>
          <a:p>
            <a:pPr algn="r">
              <a:spcBef>
                <a:spcPts val="8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حقيقة قانونية:</a:t>
            </a:r>
            <a:br/>
            <a:r>
              <a:t>لا يوجد قانون عالمي موحد للجرائم الإلكترونية، بل لكل دولة تشريعاتها وأنظمتها الخاصة.</a:t>
            </a:r>
          </a:p>
          <a:p>
            <a:pPr algn="r">
              <a:spcBef>
                <a:spcPts val="1200"/>
              </a:spcBef>
              <a:defRPr sz="1400" b="1">
                <a:solidFill>
                  <a:srgbClr val="D97706"/>
                </a:solidFill>
                <a:latin typeface="Arial"/>
              </a:defRPr>
            </a:pPr>
            <a:r>
              <a:t>أبرز ما يتضمنه القانون الوطني (المحدد للحفظ):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العقوبات المرتبطة بالجرائم الإلكترونية (تتراوح بين الغرامة المالية والسجن بحسب نوع الجريمة).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إجراءات التحقيق في الجرائم الإلكترونية.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حماية خصوصية البيانات والمعلومات.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2255" cy="457200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F766E"/>
                </a:solidFill>
                <a:latin typeface="Arial"/>
              </a:defRPr>
            </a:pPr>
            <a:r>
              <a:t>طرائق الوقاية السبعة من الجرائم الإلكترونية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1. استخدام برامج الحماية المحدثة (Anti-Virus).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2. تحديث النظام والبرمجيات باستمرار.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3. استخدام كلمات مرور محكمة وقوية وفريدة.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4. التعليم والتوعية الرقمية المستمرة.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5. التشفير (Encryption) لحماية البيانات.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6. تفعيل التحقق بخطوتين (2FA).</a:t>
            </a:r>
          </a:p>
          <a:p>
            <a:pPr algn="r">
              <a:spcBef>
                <a:spcPts val="600"/>
              </a:spcBef>
              <a:defRPr sz="1200" b="1">
                <a:solidFill>
                  <a:srgbClr val="1E293B"/>
                </a:solidFill>
                <a:latin typeface="Arial"/>
              </a:defRPr>
            </a:pPr>
            <a:r>
              <a:t>7. النسخ الاحتياطي للبيانات (Data Backup) في وسائط خارجية أو سحابية.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الرابع: التنمر الإلكتروني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التنمر الإلكتروني سلوك عدواني رقمي يستهدف الأذى والاستفزاز ولديه دوافع متعددة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DC2626"/>
                </a:solidFill>
                <a:latin typeface="Arial"/>
              </a:defRPr>
            </a:pPr>
            <a:r>
              <a:t>مفهوم التنمر الإلكتروني (Cyberbullying) وتقنياته</a:t>
            </a:r>
          </a:p>
          <a:p>
            <a:pPr algn="r">
              <a:spcBef>
                <a:spcPts val="4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التعريف: سلوك عدواني يهدف إلى إلحاق الأذى بالآخرين، أو إثارة الرعب في نفوسهم، أو استفزازهم، أو النيل من أعراضهم وشخصياتهم باستخدام التقنيات الرقمية (وهو شكل من أشكال الجرائم الإلكترونية).</a:t>
            </a:r>
            <a:br/>
            <a:r>
              <a:t>• التقنيات المستخدمة: وسائل التواصل الاجتماعي، منصات المراسلة، منصات الألعاب الهواتف المحمولة.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2422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48764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766E"/>
                </a:solidFill>
                <a:latin typeface="Arial"/>
              </a:defRPr>
            </a:pPr>
            <a:r>
              <a:t>أشكال التنمر الإلكتروني المحددة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إرسال رسائل تحوي تهديداً أو تعليقات مسيئة بكثرة.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نشر الأكاذيب والشائعات المضللة.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مشاركة الصور المهينة ومقاطع الفيديو المحرجة.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استبعاد شخص ما من مجموعة أو نشاط على الإنترنت.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422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8764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766E"/>
                </a:solidFill>
                <a:latin typeface="Arial"/>
              </a:defRPr>
            </a:pPr>
            <a:r>
              <a:t>أسباب التنمر الإلكتروني ودوافعه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إظهار القوة والسيادة والتعبير عن الغضب.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التغافل عن حالة الإحباط الشخصي والغيرة والحسد.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الشعور بالنقص أو الدونية لدى المتنمر.</a:t>
            </a:r>
          </a:p>
          <a:p>
            <a:pPr algn="r">
              <a:spcBef>
                <a:spcPts val="6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تأثيرات بيئية: العنف المنزلي، الرفض المجتمعي، التهميش والإهمال.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0F766E"/>
                </a:solidFill>
                <a:latin typeface="Arial"/>
              </a:defRPr>
            </a:pPr>
            <a:r>
              <a:t>الدرس الرابع: الوقاية من التنمر الرقمي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Arial"/>
              </a:defRPr>
            </a:pPr>
            <a:r>
              <a:t>خماسية الوقاية تعتمد على الحذر الرقمي، الحظر، حفظ الأدلة، والتحدث مع الموثوقين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48495" y="1737360"/>
            <a:ext cx="201168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1. التثبت مما ينشر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8351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عدم مشاركة بيانات شخصية كالرقم والعنوان، والتفكير ملياً قبل النشر لأن كل ما يُنشر يظل دائماً.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48495" y="2651760"/>
            <a:ext cx="201168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2. تفعيل الخصوصية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8351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استخدام كلمات مرور معقدة وتغييرها بانتظام، وعدم مشاركتها مع الآخرين.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48495" y="3566160"/>
            <a:ext cx="201168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3. إدراك المخاطر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8351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التواصل المباشر مع إدارة المدرسة أو الجهات المعنية عند التعرض للتنمر.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48495" y="4480560"/>
            <a:ext cx="201168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4. الحزم في التعامل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8351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حظر المتنمر من جميع الحسابات، وحفظ جميع الأدلة والرسائل والصور التي تثبت التنمر.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48495" y="5394960"/>
            <a:ext cx="2011680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  <a:latin typeface="Arial"/>
              </a:defRPr>
            </a:pPr>
            <a:r>
              <a:t>5. التحدث لشخص موثوق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8351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اللجوء إلى أصحاب الثقة فوراً (الوالد، الوالدة، المعلم، أو الصديق الموثوق).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